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1" r:id="rId6"/>
    <p:sldId id="264" r:id="rId7"/>
    <p:sldId id="265" r:id="rId8"/>
    <p:sldId id="266" r:id="rId9"/>
    <p:sldId id="268" r:id="rId10"/>
    <p:sldId id="267" r:id="rId11"/>
    <p:sldId id="262" r:id="rId12"/>
    <p:sldId id="263"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3/10/2026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3/10/2026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3/10/2026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3/10/2026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3/10/2026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3/10/2026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3/10/2026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3/10/2026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3/10/2026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3/10/2026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3/10/2026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3/10/2026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D8B0E-DEE5-CAD3-4213-32AB77295FC7}"/>
              </a:ext>
            </a:extLst>
          </p:cNvPr>
          <p:cNvSpPr>
            <a:spLocks noGrp="1"/>
          </p:cNvSpPr>
          <p:nvPr>
            <p:ph type="ctrTitle"/>
          </p:nvPr>
        </p:nvSpPr>
        <p:spPr>
          <a:xfrm>
            <a:off x="1200482" y="786384"/>
            <a:ext cx="7711870" cy="3118104"/>
          </a:xfrm>
        </p:spPr>
        <p:txBody>
          <a:bodyPr>
            <a:normAutofit fontScale="90000"/>
          </a:bodyPr>
          <a:lstStyle/>
          <a:p>
            <a:pPr algn="l"/>
            <a:r>
              <a:rPr lang="en-US" dirty="0"/>
              <a:t>Global AI Workforce and Hiring Trends Analysis</a:t>
            </a:r>
            <a:br>
              <a:rPr lang="en-US" dirty="0"/>
            </a:br>
            <a:r>
              <a:rPr lang="en-US" dirty="0"/>
              <a:t>2020-2026</a:t>
            </a:r>
            <a:endParaRPr lang="en-IN" dirty="0"/>
          </a:p>
        </p:txBody>
      </p:sp>
      <p:sp>
        <p:nvSpPr>
          <p:cNvPr id="4" name="TextBox 3">
            <a:extLst>
              <a:ext uri="{FF2B5EF4-FFF2-40B4-BE49-F238E27FC236}">
                <a16:creationId xmlns:a16="http://schemas.microsoft.com/office/drawing/2014/main" id="{D7B245AF-1976-47AB-0CCA-AB3251B912EC}"/>
              </a:ext>
            </a:extLst>
          </p:cNvPr>
          <p:cNvSpPr txBox="1"/>
          <p:nvPr/>
        </p:nvSpPr>
        <p:spPr>
          <a:xfrm>
            <a:off x="265176" y="3995678"/>
            <a:ext cx="338554" cy="2862322"/>
          </a:xfrm>
          <a:prstGeom prst="rect">
            <a:avLst/>
          </a:prstGeom>
          <a:noFill/>
        </p:spPr>
        <p:txBody>
          <a:bodyPr wrap="none" rtlCol="0">
            <a:spAutoFit/>
          </a:bodyPr>
          <a:lstStyle/>
          <a:p>
            <a:r>
              <a:rPr lang="en-US" dirty="0"/>
              <a:t>A</a:t>
            </a:r>
          </a:p>
          <a:p>
            <a:r>
              <a:rPr lang="en-US" dirty="0"/>
              <a:t>F</a:t>
            </a:r>
          </a:p>
          <a:p>
            <a:r>
              <a:rPr lang="en-US" dirty="0"/>
              <a:t>0</a:t>
            </a:r>
          </a:p>
          <a:p>
            <a:r>
              <a:rPr lang="en-US" dirty="0"/>
              <a:t>5</a:t>
            </a:r>
          </a:p>
          <a:p>
            <a:r>
              <a:rPr lang="en-US" dirty="0"/>
              <a:t>1</a:t>
            </a:r>
          </a:p>
          <a:p>
            <a:r>
              <a:rPr lang="en-US" dirty="0"/>
              <a:t>0</a:t>
            </a:r>
          </a:p>
          <a:p>
            <a:r>
              <a:rPr lang="en-US" dirty="0"/>
              <a:t>0</a:t>
            </a:r>
          </a:p>
          <a:p>
            <a:r>
              <a:rPr lang="en-US" dirty="0"/>
              <a:t>6</a:t>
            </a:r>
          </a:p>
          <a:p>
            <a:r>
              <a:rPr lang="en-US" dirty="0"/>
              <a:t>9</a:t>
            </a:r>
          </a:p>
          <a:p>
            <a:r>
              <a:rPr lang="en-US" dirty="0"/>
              <a:t>2</a:t>
            </a:r>
            <a:endParaRPr lang="en-IN" dirty="0"/>
          </a:p>
        </p:txBody>
      </p:sp>
      <p:sp>
        <p:nvSpPr>
          <p:cNvPr id="9" name="AutoShape 2">
            <a:extLst>
              <a:ext uri="{FF2B5EF4-FFF2-40B4-BE49-F238E27FC236}">
                <a16:creationId xmlns:a16="http://schemas.microsoft.com/office/drawing/2014/main" id="{6D44D483-6E54-868B-82E4-B75F12F451EF}"/>
              </a:ext>
            </a:extLst>
          </p:cNvPr>
          <p:cNvSpPr>
            <a:spLocks noChangeAspect="1" noChangeArrowheads="1"/>
          </p:cNvSpPr>
          <p:nvPr/>
        </p:nvSpPr>
        <p:spPr bwMode="auto">
          <a:xfrm>
            <a:off x="5943600" y="3276600"/>
            <a:ext cx="1819656" cy="181965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70F384F9-9067-0D66-3463-2D6C6992C444}"/>
              </a:ext>
            </a:extLst>
          </p:cNvPr>
          <p:cNvPicPr>
            <a:picLocks noChangeAspect="1"/>
          </p:cNvPicPr>
          <p:nvPr/>
        </p:nvPicPr>
        <p:blipFill>
          <a:blip r:embed="rId2"/>
          <a:srcRect l="3552" t="-457" r="-3552" b="457"/>
          <a:stretch>
            <a:fillRect/>
          </a:stretch>
        </p:blipFill>
        <p:spPr>
          <a:xfrm>
            <a:off x="1626108" y="3276600"/>
            <a:ext cx="7389876" cy="3375355"/>
          </a:xfrm>
          <a:prstGeom prst="rect">
            <a:avLst/>
          </a:prstGeom>
        </p:spPr>
      </p:pic>
      <p:pic>
        <p:nvPicPr>
          <p:cNvPr id="12" name="Picture 11">
            <a:extLst>
              <a:ext uri="{FF2B5EF4-FFF2-40B4-BE49-F238E27FC236}">
                <a16:creationId xmlns:a16="http://schemas.microsoft.com/office/drawing/2014/main" id="{6B0FF3C8-E8A6-ED68-F80D-DC7F932ED913}"/>
              </a:ext>
            </a:extLst>
          </p:cNvPr>
          <p:cNvPicPr>
            <a:picLocks noChangeAspect="1"/>
          </p:cNvPicPr>
          <p:nvPr/>
        </p:nvPicPr>
        <p:blipFill>
          <a:blip r:embed="rId3"/>
          <a:stretch>
            <a:fillRect/>
          </a:stretch>
        </p:blipFill>
        <p:spPr>
          <a:xfrm>
            <a:off x="9064205" y="103022"/>
            <a:ext cx="3016543" cy="6651955"/>
          </a:xfrm>
          <a:prstGeom prst="rect">
            <a:avLst/>
          </a:prstGeom>
        </p:spPr>
      </p:pic>
    </p:spTree>
    <p:extLst>
      <p:ext uri="{BB962C8B-B14F-4D97-AF65-F5344CB8AC3E}">
        <p14:creationId xmlns:p14="http://schemas.microsoft.com/office/powerpoint/2010/main" val="1429166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D801B0-791F-12C4-0795-94DCFB758E61}"/>
              </a:ext>
            </a:extLst>
          </p:cNvPr>
          <p:cNvSpPr txBox="1"/>
          <p:nvPr/>
        </p:nvSpPr>
        <p:spPr>
          <a:xfrm>
            <a:off x="1946067" y="1720840"/>
            <a:ext cx="7379369" cy="3416320"/>
          </a:xfrm>
          <a:prstGeom prst="rect">
            <a:avLst/>
          </a:prstGeom>
          <a:noFill/>
        </p:spPr>
        <p:txBody>
          <a:bodyPr wrap="square" rtlCol="0">
            <a:spAutoFit/>
          </a:bodyPr>
          <a:lstStyle/>
          <a:p>
            <a:r>
              <a:rPr lang="en-US" b="1" u="sng" dirty="0"/>
              <a:t>Introduction</a:t>
            </a:r>
          </a:p>
          <a:p>
            <a:endParaRPr lang="en-US" b="1" dirty="0"/>
          </a:p>
          <a:p>
            <a:r>
              <a:rPr lang="en-US" dirty="0"/>
              <a:t>Artificial Intelligence has become a key driver of technological innovation, leading to a significant increase in demand for AI professionals across industries. Organizations increasingly rely on AI professionals such as Data Scientists, Machine Learning Engineers, and AI Engineers.</a:t>
            </a:r>
          </a:p>
          <a:p>
            <a:r>
              <a:rPr lang="en-US" dirty="0"/>
              <a:t>Understanding hiring trends, salary patterns, work culture, and job security is important for companies and professionals This project analyzes global AI workforce and hiring trends from 2020 to 2026 using Power BI dashboards.</a:t>
            </a:r>
          </a:p>
          <a:p>
            <a:endParaRPr lang="en-IN" dirty="0"/>
          </a:p>
        </p:txBody>
      </p:sp>
    </p:spTree>
    <p:extLst>
      <p:ext uri="{BB962C8B-B14F-4D97-AF65-F5344CB8AC3E}">
        <p14:creationId xmlns:p14="http://schemas.microsoft.com/office/powerpoint/2010/main" val="1446509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1894F-4A25-3944-5F23-E9D9D2836E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549FE7B-2819-7A1A-3B7F-C843D270E3F7}"/>
              </a:ext>
            </a:extLst>
          </p:cNvPr>
          <p:cNvSpPr txBox="1"/>
          <p:nvPr/>
        </p:nvSpPr>
        <p:spPr>
          <a:xfrm>
            <a:off x="1600521" y="1166842"/>
            <a:ext cx="8128695" cy="5909310"/>
          </a:xfrm>
          <a:prstGeom prst="rect">
            <a:avLst/>
          </a:prstGeom>
          <a:noFill/>
        </p:spPr>
        <p:txBody>
          <a:bodyPr wrap="square" rtlCol="0">
            <a:spAutoFit/>
          </a:bodyPr>
          <a:lstStyle/>
          <a:p>
            <a:r>
              <a:rPr lang="en-US" b="1" u="sng" dirty="0"/>
              <a:t> Objectives</a:t>
            </a:r>
          </a:p>
          <a:p>
            <a:endParaRPr lang="en-US" b="1" u="sng" dirty="0"/>
          </a:p>
          <a:p>
            <a:pPr marL="285750" indent="-285750">
              <a:buFont typeface="Arial" panose="020B0604020202020204" pitchFamily="34" charset="0"/>
              <a:buChar char="•"/>
            </a:pPr>
            <a:r>
              <a:rPr lang="en-US" dirty="0"/>
              <a:t>Analyze global AI hiring trends across different countries.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Examine salary distribution based on country and experience level.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Identify the most demanded AI job roles and specializations.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Understand workforce experience including work-life balance and employee satisfaction.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Study hiring challenges such as automation risk and layoff risk.</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endParaRPr lang="en-US" dirty="0"/>
          </a:p>
          <a:p>
            <a:pPr marL="285750" indent="-285750">
              <a:buFont typeface="Arial" panose="020B0604020202020204" pitchFamily="34" charset="0"/>
              <a:buChar char="•"/>
            </a:pPr>
            <a:endParaRPr lang="en-US" dirty="0"/>
          </a:p>
          <a:p>
            <a:endParaRPr lang="en-US" dirty="0"/>
          </a:p>
          <a:p>
            <a:endParaRPr lang="en-IN" dirty="0"/>
          </a:p>
        </p:txBody>
      </p:sp>
    </p:spTree>
    <p:extLst>
      <p:ext uri="{BB962C8B-B14F-4D97-AF65-F5344CB8AC3E}">
        <p14:creationId xmlns:p14="http://schemas.microsoft.com/office/powerpoint/2010/main" val="1381236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D841D-7FF6-0B12-67AF-57D66F1FADDD}"/>
            </a:ext>
          </a:extLst>
        </p:cNvPr>
        <p:cNvGrpSpPr/>
        <p:nvPr/>
      </p:nvGrpSpPr>
      <p:grpSpPr>
        <a:xfrm>
          <a:off x="0" y="0"/>
          <a:ext cx="0" cy="0"/>
          <a:chOff x="0" y="0"/>
          <a:chExt cx="0" cy="0"/>
        </a:xfrm>
      </p:grpSpPr>
      <p:sp>
        <p:nvSpPr>
          <p:cNvPr id="58" name="TextBox 57">
            <a:extLst>
              <a:ext uri="{FF2B5EF4-FFF2-40B4-BE49-F238E27FC236}">
                <a16:creationId xmlns:a16="http://schemas.microsoft.com/office/drawing/2014/main" id="{015EEA0C-9586-684E-55D0-11FA4C637E06}"/>
              </a:ext>
            </a:extLst>
          </p:cNvPr>
          <p:cNvSpPr txBox="1"/>
          <p:nvPr/>
        </p:nvSpPr>
        <p:spPr>
          <a:xfrm>
            <a:off x="1241763" y="1543411"/>
            <a:ext cx="10283649" cy="5078313"/>
          </a:xfrm>
          <a:prstGeom prst="rect">
            <a:avLst/>
          </a:prstGeom>
          <a:noFill/>
        </p:spPr>
        <p:txBody>
          <a:bodyPr wrap="none" rtlCol="0">
            <a:spAutoFit/>
          </a:bodyPr>
          <a:lstStyle/>
          <a:p>
            <a:r>
              <a:rPr lang="en-IN" b="1" u="sng" dirty="0"/>
              <a:t>Dataset Overview</a:t>
            </a:r>
          </a:p>
          <a:p>
            <a:endParaRPr lang="en-IN" dirty="0"/>
          </a:p>
          <a:p>
            <a:r>
              <a:rPr lang="en-IN" dirty="0"/>
              <a:t> Dataset is from Kaggle with 90K records of Global AI Workforce</a:t>
            </a:r>
          </a:p>
          <a:p>
            <a:r>
              <a:rPr lang="en-IN" dirty="0"/>
              <a:t>The dataset was very rich with more information  contains information about global AI workforce </a:t>
            </a:r>
          </a:p>
          <a:p>
            <a:r>
              <a:rPr lang="en-IN" dirty="0"/>
              <a:t>Trends </a:t>
            </a:r>
          </a:p>
          <a:p>
            <a:r>
              <a:rPr lang="en-IN" dirty="0"/>
              <a:t>For now these are the area that was essential to have quick glance of AI workforce globally</a:t>
            </a:r>
          </a:p>
          <a:p>
            <a:r>
              <a:rPr lang="en-IN" dirty="0"/>
              <a:t>Country</a:t>
            </a:r>
          </a:p>
          <a:p>
            <a:r>
              <a:rPr lang="en-IN" dirty="0"/>
              <a:t>Job Role</a:t>
            </a:r>
          </a:p>
          <a:p>
            <a:r>
              <a:rPr lang="en-IN" dirty="0"/>
              <a:t>AI Specialization</a:t>
            </a:r>
          </a:p>
          <a:p>
            <a:r>
              <a:rPr lang="en-IN" dirty="0"/>
              <a:t>Salary </a:t>
            </a:r>
          </a:p>
          <a:p>
            <a:r>
              <a:rPr lang="en-IN" dirty="0"/>
              <a:t>Experience Level</a:t>
            </a:r>
          </a:p>
          <a:p>
            <a:r>
              <a:rPr lang="en-IN" dirty="0"/>
              <a:t>Industry</a:t>
            </a:r>
          </a:p>
          <a:p>
            <a:r>
              <a:rPr lang="en-IN" dirty="0"/>
              <a:t>Work Mode</a:t>
            </a:r>
          </a:p>
          <a:p>
            <a:r>
              <a:rPr lang="en-IN" dirty="0"/>
              <a:t>Job Openings</a:t>
            </a:r>
          </a:p>
          <a:p>
            <a:r>
              <a:rPr lang="en-IN" dirty="0"/>
              <a:t>Employee Satisfaction</a:t>
            </a:r>
          </a:p>
          <a:p>
            <a:r>
              <a:rPr lang="en-IN" dirty="0"/>
              <a:t>Hiring Difficulty Score etc</a:t>
            </a:r>
          </a:p>
          <a:p>
            <a:endParaRPr lang="en-IN" dirty="0"/>
          </a:p>
          <a:p>
            <a:endParaRPr lang="en-IN" dirty="0"/>
          </a:p>
        </p:txBody>
      </p:sp>
    </p:spTree>
    <p:extLst>
      <p:ext uri="{BB962C8B-B14F-4D97-AF65-F5344CB8AC3E}">
        <p14:creationId xmlns:p14="http://schemas.microsoft.com/office/powerpoint/2010/main" val="2319060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FF8F5-7C4F-3A1E-BFBB-BEC3CA3F448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F55428-A01B-9252-ADB8-3032E2EAD45B}"/>
              </a:ext>
            </a:extLst>
          </p:cNvPr>
          <p:cNvSpPr txBox="1"/>
          <p:nvPr/>
        </p:nvSpPr>
        <p:spPr>
          <a:xfrm>
            <a:off x="1582073" y="1143160"/>
            <a:ext cx="7186647" cy="4801314"/>
          </a:xfrm>
          <a:prstGeom prst="rect">
            <a:avLst/>
          </a:prstGeom>
          <a:noFill/>
        </p:spPr>
        <p:txBody>
          <a:bodyPr wrap="none" rtlCol="0">
            <a:spAutoFit/>
          </a:bodyPr>
          <a:lstStyle/>
          <a:p>
            <a:r>
              <a:rPr lang="en-US" b="1" u="sng" dirty="0"/>
              <a:t>Dashboard Design</a:t>
            </a:r>
          </a:p>
          <a:p>
            <a:endParaRPr lang="en-US" b="1" u="sng" dirty="0"/>
          </a:p>
          <a:p>
            <a:r>
              <a:rPr lang="en-US" dirty="0"/>
              <a:t>Dashboard 1 – Global Hiring Overview</a:t>
            </a:r>
            <a:br>
              <a:rPr lang="en-US" dirty="0"/>
            </a:br>
            <a:r>
              <a:rPr lang="en-US" dirty="0"/>
              <a:t>Shows the growth of AI job opportunities across countries and years.</a:t>
            </a:r>
          </a:p>
          <a:p>
            <a:endParaRPr lang="en-US" dirty="0"/>
          </a:p>
          <a:p>
            <a:r>
              <a:rPr lang="en-US" dirty="0"/>
              <a:t>Dashboard 2 – Salary Analysis</a:t>
            </a:r>
            <a:br>
              <a:rPr lang="en-US" dirty="0"/>
            </a:br>
            <a:r>
              <a:rPr lang="en-US" dirty="0"/>
              <a:t>Visualizes salary distribution based on country and experience level.</a:t>
            </a:r>
          </a:p>
          <a:p>
            <a:endParaRPr lang="en-US" dirty="0"/>
          </a:p>
          <a:p>
            <a:r>
              <a:rPr lang="en-US" dirty="0"/>
              <a:t>Dashboard 3 – AI Roles &amp; Skills Demand</a:t>
            </a:r>
            <a:br>
              <a:rPr lang="en-US" dirty="0"/>
            </a:br>
            <a:r>
              <a:rPr lang="en-US" dirty="0"/>
              <a:t>Highlights the most demanded AI job roles and specializations.</a:t>
            </a:r>
          </a:p>
          <a:p>
            <a:endParaRPr lang="en-US" dirty="0"/>
          </a:p>
          <a:p>
            <a:r>
              <a:rPr lang="en-US" dirty="0"/>
              <a:t>Dashboard 4 – Workforce Experience</a:t>
            </a:r>
            <a:br>
              <a:rPr lang="en-US" dirty="0"/>
            </a:br>
            <a:r>
              <a:rPr lang="en-US" dirty="0"/>
              <a:t>Analyzes employee satisfaction, work-life balance, and work mode.</a:t>
            </a:r>
          </a:p>
          <a:p>
            <a:endParaRPr lang="en-US" dirty="0"/>
          </a:p>
          <a:p>
            <a:r>
              <a:rPr lang="en-US" dirty="0"/>
              <a:t>Dashboard 5 – Hiring Challenges</a:t>
            </a:r>
            <a:br>
              <a:rPr lang="en-US" dirty="0"/>
            </a:br>
            <a:r>
              <a:rPr lang="en-US" dirty="0"/>
              <a:t>Shows hiring difficulty, automation risk, and job security trends.</a:t>
            </a:r>
          </a:p>
          <a:p>
            <a:endParaRPr lang="en-IN" dirty="0"/>
          </a:p>
        </p:txBody>
      </p:sp>
    </p:spTree>
    <p:extLst>
      <p:ext uri="{BB962C8B-B14F-4D97-AF65-F5344CB8AC3E}">
        <p14:creationId xmlns:p14="http://schemas.microsoft.com/office/powerpoint/2010/main" val="1661244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9C869-C29B-D4D2-8721-DD6E9570BE4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7AF23C3-23AC-77FF-E698-3486782B8392}"/>
              </a:ext>
            </a:extLst>
          </p:cNvPr>
          <p:cNvPicPr>
            <a:picLocks noChangeAspect="1"/>
          </p:cNvPicPr>
          <p:nvPr/>
        </p:nvPicPr>
        <p:blipFill>
          <a:blip r:embed="rId2"/>
          <a:stretch>
            <a:fillRect/>
          </a:stretch>
        </p:blipFill>
        <p:spPr>
          <a:xfrm>
            <a:off x="130872" y="99929"/>
            <a:ext cx="11930256" cy="6658142"/>
          </a:xfrm>
          <a:prstGeom prst="rect">
            <a:avLst/>
          </a:prstGeom>
        </p:spPr>
      </p:pic>
    </p:spTree>
    <p:extLst>
      <p:ext uri="{BB962C8B-B14F-4D97-AF65-F5344CB8AC3E}">
        <p14:creationId xmlns:p14="http://schemas.microsoft.com/office/powerpoint/2010/main" val="4185211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BB78B-3C0F-D068-CCF2-A40A1D18382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10C9CAC-02A0-7CCC-2F4B-C6620830315A}"/>
              </a:ext>
            </a:extLst>
          </p:cNvPr>
          <p:cNvPicPr>
            <a:picLocks noChangeAspect="1"/>
          </p:cNvPicPr>
          <p:nvPr/>
        </p:nvPicPr>
        <p:blipFill>
          <a:blip r:embed="rId2"/>
          <a:stretch>
            <a:fillRect/>
          </a:stretch>
        </p:blipFill>
        <p:spPr>
          <a:xfrm>
            <a:off x="96012" y="54564"/>
            <a:ext cx="11999976" cy="6748872"/>
          </a:xfrm>
          <a:prstGeom prst="rect">
            <a:avLst/>
          </a:prstGeom>
        </p:spPr>
      </p:pic>
    </p:spTree>
    <p:extLst>
      <p:ext uri="{BB962C8B-B14F-4D97-AF65-F5344CB8AC3E}">
        <p14:creationId xmlns:p14="http://schemas.microsoft.com/office/powerpoint/2010/main" val="2806866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B8F6A-7B5A-8BBC-CCF9-3795C256FFE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9FDA053-1510-A8CD-2DAF-9350395C1E9E}"/>
              </a:ext>
            </a:extLst>
          </p:cNvPr>
          <p:cNvPicPr>
            <a:picLocks noChangeAspect="1"/>
          </p:cNvPicPr>
          <p:nvPr/>
        </p:nvPicPr>
        <p:blipFill>
          <a:blip r:embed="rId2"/>
          <a:stretch>
            <a:fillRect/>
          </a:stretch>
        </p:blipFill>
        <p:spPr>
          <a:xfrm>
            <a:off x="77854" y="33461"/>
            <a:ext cx="12036291" cy="6791077"/>
          </a:xfrm>
          <a:prstGeom prst="rect">
            <a:avLst/>
          </a:prstGeom>
        </p:spPr>
      </p:pic>
    </p:spTree>
    <p:extLst>
      <p:ext uri="{BB962C8B-B14F-4D97-AF65-F5344CB8AC3E}">
        <p14:creationId xmlns:p14="http://schemas.microsoft.com/office/powerpoint/2010/main" val="2416833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31219-5D29-494D-EF09-E01179318ED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6D86EB7-0D91-E6EB-8EC1-29BE58A0D6EB}"/>
              </a:ext>
            </a:extLst>
          </p:cNvPr>
          <p:cNvPicPr>
            <a:picLocks noChangeAspect="1"/>
          </p:cNvPicPr>
          <p:nvPr/>
        </p:nvPicPr>
        <p:blipFill>
          <a:blip r:embed="rId2"/>
          <a:stretch>
            <a:fillRect/>
          </a:stretch>
        </p:blipFill>
        <p:spPr>
          <a:xfrm>
            <a:off x="50292" y="55800"/>
            <a:ext cx="12091416" cy="6746399"/>
          </a:xfrm>
          <a:prstGeom prst="rect">
            <a:avLst/>
          </a:prstGeom>
        </p:spPr>
      </p:pic>
    </p:spTree>
    <p:extLst>
      <p:ext uri="{BB962C8B-B14F-4D97-AF65-F5344CB8AC3E}">
        <p14:creationId xmlns:p14="http://schemas.microsoft.com/office/powerpoint/2010/main" val="2720861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59528-F748-47B8-89D4-096C6016FB1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580A746-8ECE-1765-64EA-7B598265EAEC}"/>
              </a:ext>
            </a:extLst>
          </p:cNvPr>
          <p:cNvPicPr>
            <a:picLocks noChangeAspect="1"/>
          </p:cNvPicPr>
          <p:nvPr/>
        </p:nvPicPr>
        <p:blipFill>
          <a:blip r:embed="rId2"/>
          <a:stretch>
            <a:fillRect/>
          </a:stretch>
        </p:blipFill>
        <p:spPr>
          <a:xfrm>
            <a:off x="41148" y="26792"/>
            <a:ext cx="12109704" cy="6804415"/>
          </a:xfrm>
          <a:prstGeom prst="rect">
            <a:avLst/>
          </a:prstGeom>
        </p:spPr>
      </p:pic>
    </p:spTree>
    <p:extLst>
      <p:ext uri="{BB962C8B-B14F-4D97-AF65-F5344CB8AC3E}">
        <p14:creationId xmlns:p14="http://schemas.microsoft.com/office/powerpoint/2010/main" val="114660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ABA5D-FFE3-1C3B-952E-1F27057E669B}"/>
            </a:ext>
          </a:extLst>
        </p:cNvPr>
        <p:cNvGrpSpPr/>
        <p:nvPr/>
      </p:nvGrpSpPr>
      <p:grpSpPr>
        <a:xfrm>
          <a:off x="0" y="0"/>
          <a:ext cx="0" cy="0"/>
          <a:chOff x="0" y="0"/>
          <a:chExt cx="0" cy="0"/>
        </a:xfrm>
      </p:grpSpPr>
      <p:sp>
        <p:nvSpPr>
          <p:cNvPr id="64" name="TextBox 63">
            <a:extLst>
              <a:ext uri="{FF2B5EF4-FFF2-40B4-BE49-F238E27FC236}">
                <a16:creationId xmlns:a16="http://schemas.microsoft.com/office/drawing/2014/main" id="{EF3D830B-A68C-F4AE-A457-CD40AD24EB00}"/>
              </a:ext>
            </a:extLst>
          </p:cNvPr>
          <p:cNvSpPr txBox="1"/>
          <p:nvPr/>
        </p:nvSpPr>
        <p:spPr>
          <a:xfrm>
            <a:off x="1145406" y="326618"/>
            <a:ext cx="9206243" cy="6740307"/>
          </a:xfrm>
          <a:prstGeom prst="rect">
            <a:avLst/>
          </a:prstGeom>
          <a:noFill/>
        </p:spPr>
        <p:txBody>
          <a:bodyPr wrap="square" rtlCol="0">
            <a:spAutoFit/>
          </a:bodyPr>
          <a:lstStyle/>
          <a:p>
            <a:r>
              <a:rPr lang="en-US" b="1" u="sng" dirty="0"/>
              <a:t>Key Insights</a:t>
            </a:r>
          </a:p>
          <a:p>
            <a:endParaRPr lang="en-US" b="1" u="sng" dirty="0"/>
          </a:p>
          <a:p>
            <a:pPr marL="285750" indent="-285750">
              <a:buFont typeface="Arial" panose="020B0604020202020204" pitchFamily="34" charset="0"/>
              <a:buChar char="•"/>
            </a:pPr>
            <a:r>
              <a:rPr lang="en-US" dirty="0"/>
              <a:t>Global demand for AI professionals continues to grow across multiple industries.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Salaries increase significantly with experience level.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Data Scientist and Machine Learning Engineer roles have the highest demand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USA, Canada, and European countries lead global AI hiring.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AI Engineer, Machine Learning Engineer, and Data Scientist are the most in-demand roles.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Emerging technologies like Generative AI, LLMs, and </a:t>
            </a:r>
            <a:r>
              <a:rPr lang="en-US" dirty="0" err="1"/>
              <a:t>MLOps</a:t>
            </a:r>
            <a:r>
              <a:rPr lang="en-US" dirty="0"/>
              <a:t> are shaping the future of AI jobs.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Flexible work modes such as remote and hybrid work are becoming standard in the AI workforce.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Although automation risk exists, most AI-related roles still offer strong job security and career growth opportunities.</a:t>
            </a:r>
          </a:p>
          <a:p>
            <a:endParaRPr lang="en-US" dirty="0"/>
          </a:p>
          <a:p>
            <a:pPr marL="285750" indent="-285750">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1082342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8F523-540B-2CBF-CA48-B49D5757A8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4DF4034-A456-80D4-B449-C5614C93066A}"/>
              </a:ext>
            </a:extLst>
          </p:cNvPr>
          <p:cNvSpPr txBox="1"/>
          <p:nvPr/>
        </p:nvSpPr>
        <p:spPr>
          <a:xfrm>
            <a:off x="1620252" y="1685564"/>
            <a:ext cx="7709685" cy="3139321"/>
          </a:xfrm>
          <a:prstGeom prst="rect">
            <a:avLst/>
          </a:prstGeom>
          <a:noFill/>
        </p:spPr>
        <p:txBody>
          <a:bodyPr wrap="square" rtlCol="0">
            <a:spAutoFit/>
          </a:bodyPr>
          <a:lstStyle/>
          <a:p>
            <a:r>
              <a:rPr lang="en-US" b="1" u="sng" dirty="0"/>
              <a:t>Conclusion</a:t>
            </a:r>
          </a:p>
          <a:p>
            <a:endParaRPr lang="en-US" b="1" u="sng" dirty="0"/>
          </a:p>
          <a:p>
            <a:r>
              <a:rPr lang="en-US" dirty="0"/>
              <a:t>AI job opportunities have grown significantly between 2020 and 2026.</a:t>
            </a:r>
          </a:p>
          <a:p>
            <a:r>
              <a:rPr lang="en-US" dirty="0"/>
              <a:t>Countries such as the USA and Singapore show higher salary levels compared to others.</a:t>
            </a:r>
          </a:p>
          <a:p>
            <a:r>
              <a:rPr lang="en-US" dirty="0"/>
              <a:t>Senior and Lead roles receive higher salaries and show greater demand.</a:t>
            </a:r>
          </a:p>
          <a:p>
            <a:r>
              <a:rPr lang="en-US" dirty="0"/>
              <a:t>Remote and hybrid work models are increasingly common in the AI workforce.</a:t>
            </a:r>
          </a:p>
          <a:p>
            <a:r>
              <a:rPr lang="en-US" dirty="0"/>
              <a:t>Although AI demand is growing, companies still face challenges such as hiring difficulty and automation risk.</a:t>
            </a:r>
          </a:p>
          <a:p>
            <a:endParaRPr lang="en-IN" dirty="0"/>
          </a:p>
        </p:txBody>
      </p:sp>
    </p:spTree>
    <p:extLst>
      <p:ext uri="{BB962C8B-B14F-4D97-AF65-F5344CB8AC3E}">
        <p14:creationId xmlns:p14="http://schemas.microsoft.com/office/powerpoint/2010/main" val="2800598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445FE3-9148-F91B-6034-F384A92C09B2}"/>
              </a:ext>
            </a:extLst>
          </p:cNvPr>
          <p:cNvSpPr txBox="1"/>
          <p:nvPr/>
        </p:nvSpPr>
        <p:spPr>
          <a:xfrm>
            <a:off x="2112264" y="2755898"/>
            <a:ext cx="8247888" cy="1569660"/>
          </a:xfrm>
          <a:prstGeom prst="rect">
            <a:avLst/>
          </a:prstGeom>
          <a:noFill/>
        </p:spPr>
        <p:txBody>
          <a:bodyPr wrap="square" rtlCol="0">
            <a:spAutoFit/>
          </a:bodyPr>
          <a:lstStyle/>
          <a:p>
            <a:r>
              <a:rPr lang="en-US" sz="9600" dirty="0">
                <a:latin typeface="Cascadia Mono SemiBold" panose="020B0609020000020004" pitchFamily="49" charset="0"/>
                <a:ea typeface="Cascadia Mono SemiBold" panose="020B0609020000020004" pitchFamily="49" charset="0"/>
                <a:cs typeface="Cascadia Mono SemiBold" panose="020B0609020000020004" pitchFamily="49" charset="0"/>
              </a:rPr>
              <a:t>THANK YOU</a:t>
            </a:r>
            <a:endParaRPr lang="en-IN" sz="9600" dirty="0">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Tree>
    <p:extLst>
      <p:ext uri="{BB962C8B-B14F-4D97-AF65-F5344CB8AC3E}">
        <p14:creationId xmlns:p14="http://schemas.microsoft.com/office/powerpoint/2010/main" val="33396343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{A4162D0F-E95A-4E6E-A846-D35ACA5044D9}TF37254b02-f5b5-44b0-803d-e6af9466a024d8712c6d-28d3f990fef7</Template>
  <TotalTime>821</TotalTime>
  <Words>493</Words>
  <Application>Microsoft Office PowerPoint</Application>
  <PresentationFormat>Widescreen</PresentationFormat>
  <Paragraphs>86</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Cascadia Mono SemiBold</vt:lpstr>
      <vt:lpstr>MS Shell Dlg 2</vt:lpstr>
      <vt:lpstr>Wingdings</vt:lpstr>
      <vt:lpstr>Wingdings 3</vt:lpstr>
      <vt:lpstr>Madison</vt:lpstr>
      <vt:lpstr>Global AI Workforce and Hiring Trends Analysis 2020-2026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Vareena Dsouza</dc:creator>
  <cp:lastModifiedBy>Vareena Dsouza</cp:lastModifiedBy>
  <cp:revision>1</cp:revision>
  <dcterms:created xsi:type="dcterms:W3CDTF">2026-03-10T17:08:06Z</dcterms:created>
  <dcterms:modified xsi:type="dcterms:W3CDTF">2026-03-11T06:49:51Z</dcterms:modified>
</cp:coreProperties>
</file>